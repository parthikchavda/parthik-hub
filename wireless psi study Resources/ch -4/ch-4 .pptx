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423160"/>
            <a:ext cx="2011680" cy="2011680"/>
          </a:xfrm>
          <a:prstGeom prst="ellipse">
            <a:avLst/>
          </a:prstGeom>
          <a:ln w="17780">
            <a:solidFill>
              <a:srgbClr val="118AB2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2011680"/>
            <a:ext cx="2834640" cy="2834640"/>
          </a:xfrm>
          <a:prstGeom prst="ellipse">
            <a:avLst/>
          </a:prstGeom>
          <a:ln w="17780">
            <a:solidFill>
              <a:srgbClr val="118AB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600200"/>
            <a:ext cx="3657600" cy="3657600"/>
          </a:xfrm>
          <a:prstGeom prst="ellipse">
            <a:avLst/>
          </a:prstGeom>
          <a:ln w="17780">
            <a:solidFill>
              <a:srgbClr val="118AB2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1188720"/>
            <a:ext cx="4480560" cy="4480560"/>
          </a:xfrm>
          <a:prstGeom prst="ellipse">
            <a:avLst/>
          </a:prstGeom>
          <a:ln w="17780">
            <a:solidFill>
              <a:srgbClr val="118AB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324612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70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GUJARAT WIRELESS PSI EXAMINATION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સંચાર ઈજનેરી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Communication Engineering — સંપૂર્ણ Revision Deck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291840" cy="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18 વિષયો  •  Formula Sheet  •  Memory Tricks  •  Last-Minute Revision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GPSC | GSSSB | PSI | Wireless PSI | Class-2 &amp; Class-3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અનુક્રમણિકા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Index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Introduction to Communication Systems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Modulation — AM, FM, PM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Receiver &amp; FM Receiver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 &amp; Wave Propagation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61188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SSB Techniques &amp; SSB Receiver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16052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Communication Receiver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70916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Line Coding Schemes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2852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25780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Pulse Modulation &amp; Digital Modulation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8338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833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580644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Source Coding &amp; Multiplexing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55080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141732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Data Communication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19933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196596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Error Detection Techniques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355080" y="25420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251460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Speech Digitization &amp; Coding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355080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306324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Switching — Space &amp; Time Division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355080" y="36393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361188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Traffic Engineering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355080" y="41879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416052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Telephone Networks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6355080" y="47365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470916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📐 Complete Formula Sheet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6355080" y="52852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18AB2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58000" y="525780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 Quick Revision &amp; Memory Tricks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355080" y="58338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5833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0" y="5806440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📰 Current Affairs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Introduction to Communication Systems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પ્રણાલીનો પરિચય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(Communication)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એટલે Source થી Destination સુધી માહિતી (Voice, Data, Image, Video) નું પ્રસારણ.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Information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Source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130552"/>
            <a:ext cx="256032" cy="146304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0" name="Shape 8"/>
          <p:cNvSpPr/>
          <p:nvPr/>
        </p:nvSpPr>
        <p:spPr>
          <a:xfrm>
            <a:off x="2587752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Transducer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2130552"/>
            <a:ext cx="256032" cy="146304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Transmitter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2130552"/>
            <a:ext cx="256032" cy="146304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6" name="Shape 14"/>
          <p:cNvSpPr/>
          <p:nvPr/>
        </p:nvSpPr>
        <p:spPr>
          <a:xfrm>
            <a:off x="6665976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E09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65976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Channel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(Noise)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49056" y="2130552"/>
            <a:ext cx="256032" cy="146304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5088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13315C"/>
          </a:solidFill>
          <a:ln/>
        </p:spPr>
      </p:sp>
      <p:sp>
        <p:nvSpPr>
          <p:cNvPr id="20" name="Text 18"/>
          <p:cNvSpPr/>
          <p:nvPr/>
        </p:nvSpPr>
        <p:spPr>
          <a:xfrm>
            <a:off x="8705088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Receiver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88168" y="2130552"/>
            <a:ext cx="256032" cy="146304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44200" y="1874520"/>
            <a:ext cx="1783080" cy="658368"/>
          </a:xfrm>
          <a:prstGeom prst="roundRect">
            <a:avLst>
              <a:gd name="adj" fmla="val 9722"/>
            </a:avLst>
          </a:prstGeom>
          <a:solidFill>
            <a:srgbClr val="118AB2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0" y="1874520"/>
            <a:ext cx="1783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Transducer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527280" y="18745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834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303580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2999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3 મૂળભૂત ઘટકો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" y="345643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Transmitter (પ્રેષક) — Signal મોકલે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Channel (માધ્યમ) — Signal Travel કરે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Receiver (પ્રાપ્તકર્તા) — Signal મેળવે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2834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3368" y="303580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2999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Modulation શા માટે?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28232" y="345643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 Size ઘટાડવા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Multiplexing શક્ય બનાવવા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Noise ઘટાડવા  &amp;  Range વધારવા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આધાર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પ્રકારો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દિશા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Simplex (એક દિશા)  /  Half Duplex (વારાફરતી બંને)  /  Full Duplex (એકસાથે બંને)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Signal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Analog  /  Digital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માધ્યમ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Wired (Guided)  /  Wireless (Unguided)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Analog vs Digital  &amp;  Key Terms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મૂળભૂત પરિભાષા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બાબત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Analog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Digital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Signal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Continuous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Discrete (0,1)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Noise Immunity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(Regeneration)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Bandwidth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Security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(Encryption)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23444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0196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6"/>
          <p:cNvSpPr/>
          <p:nvPr/>
        </p:nvSpPr>
        <p:spPr>
          <a:xfrm>
            <a:off x="660196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13990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Key Terms — વ્યાખ્યાઓ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56832" y="1856232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Bandwidth: Highest − Lowest Frequency નો તફાવત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Noise: અનિચ્છનીય Signal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Attenuation: Signal Strength ઘટવી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Modulation: Message ને Carrier પર આરોપિત કરવું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SNR: Signal Power / Noise Power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703320"/>
            <a:ext cx="5248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Modulation ના 4 મુખ્ય કારણો: Antenna Size ↓, Multiplexing ✓, Noise ↓, Range ↑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481888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818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4782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Communication System — યાદ રાખવાની Chain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4672" y="52395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Source + Transmitter + Channel + Receiver + Destination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 ઘટકોનો ક્રમ Exam માં પૂછાય છે — ક્રમ ધ્યાનમાં રાખવો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Modulation — AM, FM, PM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Carrier Wave અને Modulation ના પ્રકારો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Carrier: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c(t) = Ac sin(2πfct + φ)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Amplitude (Ac), Frequency (fc), Phase (φ) — આ 3 માંથી ગમે તે 1 બદલવાથી 3 પ્રકારના Modulation બને છે.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Parameter બદલાય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Modulation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વર્ણન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Amplitude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Amplitude Modulation — સૌથી સરળ, ઓછો BW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 Modulation — Noise Immunity ઉત્તમ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Phase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Phase Modulation — Digital/Satellite Comm માટે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491032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48737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Bandwidth ક્રમ યાદ રાખો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4672" y="533095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&lt; FM / PM   —   AM માં ઓછામાં ઓછો Bandwidth વપરાય છે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AM (Amplitude Modulation)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વ્યાખ્યા, Formula અને ઉપયોગ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898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મુખ્ય Formulas &amp; લક્ષણો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1051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Modulation Index: ma = Am / Ac   (0 થી 1, ma&gt;1 → Over Modulation)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Bandwidth: BW = 2fm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 Components: Carrier(fc) + USB(fc+fm) + LSB(fc−fm)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માહિતી ફક્ત Side Bands માં — Carrier Power વેડફાય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38988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પ્રકારો  &amp;  ઉપયોગ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81051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પ્રકારો: DSB-FC (સામાન્ય), DSB-SC, SSB, VSB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Radio: 535 – 1605 kHz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Aircraft Communication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Frequency Spectrum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486400" cy="0"/>
          </a:xfrm>
          <a:prstGeom prst="line">
            <a:avLst/>
          </a:prstGeom>
          <a:noFill/>
          <a:ln w="12700">
            <a:solidFill>
              <a:srgbClr val="5B67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931920"/>
            <a:ext cx="274320" cy="1188720"/>
          </a:xfrm>
          <a:prstGeom prst="roundRect">
            <a:avLst>
              <a:gd name="adj" fmla="val 23333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931920"/>
            <a:ext cx="274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4434840"/>
            <a:ext cx="274320" cy="685800"/>
          </a:xfrm>
          <a:prstGeom prst="roundRect">
            <a:avLst>
              <a:gd name="adj" fmla="val 23333"/>
            </a:avLst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4434840"/>
            <a:ext cx="2743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4434840"/>
            <a:ext cx="274320" cy="685800"/>
          </a:xfrm>
          <a:prstGeom prst="roundRect">
            <a:avLst>
              <a:gd name="adj" fmla="val 23333"/>
            </a:avLst>
          </a:prstGeom>
          <a:solidFill>
            <a:srgbClr val="118AB2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4434840"/>
            <a:ext cx="2743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51663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LSB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(fc−fm)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80360" y="51663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Carrier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(fc)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94760" y="51663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USB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(fc+fm)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6576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703320"/>
            <a:ext cx="4882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Total Power: Pt = Pc(1 + ma²/2) — Power Formula Exam માં Direct પુછાય છે.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FM (Frequency Modulation)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વ્યાખ્યા, Carson's Rule અને ફાયદો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898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મુખ્ય Formulas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1051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Frequency Deviation: Δf = kf × Am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Modulation Index: β = Δf / fm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Carson's Rule: BW = 2(Δf + fm) = 2fm(β+1)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NBFM: β ≤ 0.5   |   WBFM: β &gt;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38988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ફાયદો  &amp;  ઉપયોગ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81051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Noise Immunity ઉત્તમ — Limiter વાપરી Amplitude Noise Remove કરાય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Capture Effect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FM Radio: 88–108 MHz, TV Sound, Mobile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86200"/>
            <a:ext cx="1073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FM ની Noise Immunity વધુ હોવાનું કારણ = Limiter Circuit, જે Amplitude Variations (Noise) દૂર કરે છે.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91032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8737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PM (Phase Modulation) — સંક્ષિપ્તમાં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533095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FM = PM of Integral of message   |   PM = FM of Derivative of message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ઉપયોગ: PSK, Digital/Satellite Communication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AM vs FM vs PM — સંપૂર્ણ Comparison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Quick Revision Table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લક્ષણ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બદલાતું Parameter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Amplitude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Phase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Bandwidth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 (2fm)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(Carson's Rule)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Noise Immunity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સારી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સારી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Complexity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સરળ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જટિલ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જટિલ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Standard Band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535–1605 kHz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88–108 MHz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—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491032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48737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Analog ↔ Digital Correspondence — યાદ રાખો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533095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↔ ASK   |   FM ↔ FSK   |   PM ↔ PSK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AM Receiver &amp; FM Receiver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Superheterodyne Receiver — Block Diagram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898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Receiver ના 4 Performance Parameters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1051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Sensitivity  •  Selectivity  •  Fidelity  •  Image Frequency Rejection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Superheterodyne Receiver — Block Diagram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5B677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21408" y="3186684"/>
            <a:ext cx="219456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0864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2340864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RF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Amplifier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13632" y="3186684"/>
            <a:ext cx="219456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8" name="Shape 16"/>
          <p:cNvSpPr/>
          <p:nvPr/>
        </p:nvSpPr>
        <p:spPr>
          <a:xfrm>
            <a:off x="4133088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3315C"/>
          </a:solidFill>
          <a:ln/>
        </p:spPr>
      </p:sp>
      <p:sp>
        <p:nvSpPr>
          <p:cNvPr id="19" name="Text 17"/>
          <p:cNvSpPr/>
          <p:nvPr/>
        </p:nvSpPr>
        <p:spPr>
          <a:xfrm>
            <a:off x="4133088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Mixer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05856" y="3186684"/>
            <a:ext cx="219456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1" name="Shape 19"/>
          <p:cNvSpPr/>
          <p:nvPr/>
        </p:nvSpPr>
        <p:spPr>
          <a:xfrm>
            <a:off x="5925312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5925312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Amplifier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3186684"/>
            <a:ext cx="219456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4" name="Shape 22"/>
          <p:cNvSpPr/>
          <p:nvPr/>
        </p:nvSpPr>
        <p:spPr>
          <a:xfrm>
            <a:off x="7717536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3315C"/>
          </a:solidFill>
          <a:ln/>
        </p:spPr>
      </p:sp>
      <p:sp>
        <p:nvSpPr>
          <p:cNvPr id="25" name="Text 23"/>
          <p:cNvSpPr/>
          <p:nvPr/>
        </p:nvSpPr>
        <p:spPr>
          <a:xfrm>
            <a:off x="7717536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Detector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290304" y="3186684"/>
            <a:ext cx="219456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0" y="28803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18AB2"/>
          </a:solidFill>
          <a:ln/>
        </p:spPr>
      </p:sp>
      <p:sp>
        <p:nvSpPr>
          <p:cNvPr id="28" name="Text 26"/>
          <p:cNvSpPr/>
          <p:nvPr/>
        </p:nvSpPr>
        <p:spPr>
          <a:xfrm>
            <a:off x="9509760" y="288036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Amplifier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1082528" y="2880360"/>
            <a:ext cx="1051560" cy="777240"/>
          </a:xfrm>
          <a:prstGeom prst="roundRect">
            <a:avLst>
              <a:gd name="adj" fmla="val 8235"/>
            </a:avLst>
          </a:prstGeom>
          <a:solidFill>
            <a:srgbClr val="E09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1082528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Speaker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19472" y="3657600"/>
            <a:ext cx="0" cy="502920"/>
          </a:xfrm>
          <a:prstGeom prst="line">
            <a:avLst/>
          </a:prstGeom>
          <a:noFill/>
          <a:ln w="19050">
            <a:solidFill>
              <a:srgbClr val="118AB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767328" y="4160520"/>
            <a:ext cx="2304288" cy="457200"/>
          </a:xfrm>
          <a:prstGeom prst="roundRect">
            <a:avLst>
              <a:gd name="adj" fmla="val 14000"/>
            </a:avLst>
          </a:prstGeom>
          <a:solidFill>
            <a:srgbClr val="D6EDF5"/>
          </a:solidFill>
          <a:ln/>
        </p:spPr>
      </p:sp>
      <p:sp>
        <p:nvSpPr>
          <p:cNvPr id="33" name="Text 31"/>
          <p:cNvSpPr/>
          <p:nvPr/>
        </p:nvSpPr>
        <p:spPr>
          <a:xfrm>
            <a:off x="3767328" y="4160520"/>
            <a:ext cx="23042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Local Oscillator (LO)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16636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Standard IF = 455 kHz   |   FM Standard IF = 10.7 MHz — Exam માં direct પુછાય તેવા values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Receiver Blocks — કાર્ય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દરેક Block નું કાર્ય સમજો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Block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કાર્ય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RF Amplifier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નબળા Signal ને Amplify + Preliminary Selectivity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Mixer + LO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RF ને IF માં Convert (Heterodyning)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IF Amplifier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Fixed Frequency પર મુખ્ય Gain + Selectivity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Original Signal પાછો મેળવે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AGC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Output Volume Constant રાખે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445312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4416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Image Frequency ⭐ — Trade-off યાદ રાખો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4873752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f_image = fRF + 2·fIF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ઊંચી IF → Image Rejection સારું,  પણ Selectivity ઘટે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AM vs FM Receiver — Comparison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બાબત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Receiver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 Receiver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IF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455 kHz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10.7 MHz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Bandwidth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સાંકડી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પહોળી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Envelope 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Discriminator / Ratio 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વધારાનું Block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AGC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Limiter + De-emphasis (75 μs)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3977640"/>
            <a:ext cx="1073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FM માં Limiter Amplitude Noise Remove કરે → Noise Immunity ઉત્તમ બને છે.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Antenna &amp; Wave Propagation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 ના Parameters અને પ્રકારો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= Transducer (Electrical ↔ EM Wave), Reciprocal Device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3852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019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Antenna Parameters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35915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Radiation Pattern, Gain (G), Directivity (D)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Efficiency: η = G/D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Beamwidth, Impedance, Polarization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193852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9019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Antenna પ્રકારો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235915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Half-wave Dipole (λ/2)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Quarter-wave Monopole (λ/4)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Yagi-Uda (Directional)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Parabolic Dish (High Gain), Horn (Microwave)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Wave Propagation ના 3 પ્રકાર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651760"/>
                <a:gridCol w="219456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માધ્યમ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Range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ઉપયોગ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Ground Wave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LF/MF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(30kHz–3MHz)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Earth Surface Follow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મર્યાદિત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Local Broadcasting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Sky Wave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HF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(3–30MHz)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Ionosphere Reflection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ખૂબ લાંબુ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Short Wave Radio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Space Wave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VHF+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(&gt;30MHz)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Line of Sight (LOS)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Antenna Height આધારિત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TV, FM, Satellite, Mobile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204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721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6850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Ionosphere Layers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14223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D, E, F1, F2  (F2 સૌથી અગત્યનું — રાત્રે પણ હાજર)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3520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3566160"/>
            <a:ext cx="5111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D-Layer રાત્રે અદ્રશ્ય → રાત્રે AM Long Distance Reception સારું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Propagation — Formulas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Last-Minute Formula Revision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8132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Critical Frequency  &amp;  MUF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fc = 9√Nmax   (Nmax = Maximum Electron Density)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MUF = fc × sec θ   (θ = Angle of Incidence)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89864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6207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LOS (Line of Sight) Distance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3192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d(km) = 4.12 (√ht + √hr)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Antenna Height વધુ → Range વધુ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60520"/>
            <a:ext cx="1073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MUF &gt; Critical Frequency કારણ કે Angle of Incidence (secθ) નો ગુણક લાગે છે.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SSB Techniques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Single Side Band Modulation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SSB </a:t>
            </a:r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= DSB-SC + એક Side Band Filter Out  (Carrier + એક Side Band Suppress)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476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ફાયદા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BW = fm (અડધું)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Power Saving ≈ 83%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Better SNR, ઓછો Fading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198424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9476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Generation Methods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240487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1. Filter Method — Balanced Modulator + Sharp BPF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2. Phase Shift Method — 90° Phase Shift + 2 Balanced Modulator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3. Third Method (Weaver's) — Filter+Phasing Combination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85876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8221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ઉપયોગ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42793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HF Communication, Amateur Radio, Marine, FDM Telephone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SSB Receiver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Detection Principle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856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Detection = Product Detector (Envelope Detector નહીં) + BFO (Beat Frequency Oscillator) જરૂરી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97480"/>
            <a:ext cx="1073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BFO Frequency માં Error → "Donald Duck" Audio Distortion થાય છે.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લક્ષણ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Receiver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SSB Receiver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Envelope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Product Detector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Local Carrier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જરૂરી નથી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જરૂરી (BFO)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IF Bandwidth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પહોળી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સાંકડી (~3kHz)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Communication Receiver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Broadcast Receiver કરતાં Advanced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Broadcast Receiver કરતાં વધુ Sensitivity, Selectivity, Stability — HF / Amateur / Military / Marine માટે વપરાય છે.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4767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Double Conversion Superheterodyne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1st IF (ઊંચી — Image Rejection માટે)  +  2nd IF (નીચી — Selectivity માટે, Crystal Filter)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Feature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કાર્ય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S-Meter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Signal Strength દર્શાવે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BFO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SSB / CW Detection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Squelch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Signal ન હોય ત્યારે Speaker Mute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Noise Limiter (ANL)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Impulse Noise Remove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 Synthesizer (PLL)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Crystal Reference સાથે Stable Frequency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Line Coding Schemes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Binary Data → Electrical Signal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વ્યાખ્યા: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Binary Data ને Transmission માટે Electrical Signal માં Convert કરવું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470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સારી Scheme ના લક્ષણો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267712"/>
            <a:ext cx="10607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 DC Component  •  Self-Synchronization  •  Error Detection  •  Noise Immunity  •  Bandwidth Efficiency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188720"/>
                <a:gridCol w="137160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Scheme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વર્ણન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DC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Sync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વપરાશ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Unipolar NRZ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'1'=+V, '0'=0V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હાજર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Poor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જૂની Systems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Polar NRZ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'1'=+V, '0'=−V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ઓછો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Poor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—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Manchester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Mid-bit Transition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None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Excellent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Ethernet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Diff. Manchester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Bit-start Transition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None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Excellent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Token Ring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AMI (Bipolar)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'1' Alternately +V/−V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None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Moderate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Telephone Lines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HDB3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AMI + Zero Substitution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None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Good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PCM (E1 — India/Europe)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5669280"/>
            <a:ext cx="10735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B8ZS (USA) vs HDB3 (Europe/India) — બંને AMI ની Long-Zero Sync Problem Solve કરે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Pulse Modulation &amp; Digital Modulation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Sampling Theorem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Sampling Theorem (Nyquist)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fs ≥ 2fm  —  fs=2fm ને Nyquist Rate કહેવાય; fs&lt;2fm → Aliasing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9748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Voice (fm=4kHz) → Standard Sampling Rate = 8 kHz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Analog Pulse Modulation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બદલાતું Parameter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Noise Immunity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Amplitude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PWM / PDM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Width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સારી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PPM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Position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સૌથી સારી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82472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5824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57881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PAM &lt; PWM &lt; PPM — Noise Immunity વધતા ક્રમમાં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4672" y="6245352"/>
            <a:ext cx="1060704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PCM &amp; Digital Modulation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ASK, FSK, PSK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PCM — 3 પગલાં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Sampling → Quantization → Encoding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Quantization Levels: L = 2ⁿ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SQNR = 6.02n + 1.76 dB (દરેક Bit → 6dB સુધારો)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Bit Rate = fs × n  → Telephone: 8000×8 = 64 kbps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Companding: μ-law (USA/Japan), A-law (Europe/India)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34440"/>
          <a:ext cx="54406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8745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બદલાતું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BW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ASK (OOK)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Amplitude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2Rb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FSK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2(Δf+Rb)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PSK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Phase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Coherent Det.</a:t>
                      </a:r>
                      <a:endParaRPr lang="en-US" sz="11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3063240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Noise Immunity: ASK સૌથી ઓછી → FSK મધ્યમ → PSK સૌથી વધુ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406908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QPSK = 2 bits/symbol → BPSK કરતાં બમણી Bandwidth Efficiency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00176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49651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Analog ↔ Digital Correspondence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4672" y="54223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↔ ASK   |   FM ↔ FSK   |   PM ↔ PSK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Source Coding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Entropy &amp; Coding 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Entropy  &amp;  Coding Efficiency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H = Σ pi log₂(1/pi)  bits/symbol  (Theoretical Minimum Bits)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η = (H/Lavg) × 100%   (Lavg = Average Code Length)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029200"/>
                <a:gridCol w="3566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Technique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સિદ્ધાંત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વપરાશ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Shannon-Fano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Top-Down Divide (Probability Sort)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—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Huffman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Bottom-Up Combine — સૌથી Optimal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ZIP, JPEG, MP3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RLE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પુનરાવર્તિત Symbol → Count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Fax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6177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66344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Huffman Coding = સૌથી Optimal Lossless Compression Technique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Multiplexing (MUX / DEMUX)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56032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આધાર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Guard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વપરાશ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FDM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Frequency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Guard Band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Radio, Cable TV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TDM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Time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Guard Time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Digital Telephone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WDM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Wavelength (Light)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—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Optical Fiber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CDM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Unique Code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—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CDMA Mobile, GPS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417880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41422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યાદ રાખો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599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FDM = Analog માટે યોગ્ય   |   TDM = Digital માટે યોગ્ય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Data Communication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Basics, Bit Rate, Codes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898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5 ઘટકો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1810512"/>
            <a:ext cx="10607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Message  •  Sender  •  Receiver  •  Medium  •  Protocol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30428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677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Bit Rate vs Baud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2724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Bit Rate = Baud Rate × log₂(L)   (L = Signal Levels)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30428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2677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Codes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8232" y="27249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ASCII (7-bit, 128 char)  •  EBCDIC (8-bit, IBM)  •  Unicode (16-bit+)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Transmission Media (Bandwidth ક્રમમાં)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5B677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Twisted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Pair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4192524"/>
            <a:ext cx="274320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0" y="393192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Coaxial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4192524"/>
            <a:ext cx="274320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393192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13315C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Optical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Fiber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(Bandwidth વધતા ક્રમમાં — ડાબેથી જમણે)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25780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Transmission Impairments: Attenuation (dB = 10log₁₀(P1/P2)), Distortion, Noise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Transmission Modes</a:t>
            </a:r>
            <a:endParaRPr lang="en-US" sz="2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4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વર્ણન</a:t>
                      </a:r>
                      <a:endParaRPr lang="en-US" sz="14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Parallel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એકસાથે Multiple Bits, ટૂંકા અંતર, ઝડપી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Serial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એક પછી એક Bit, લાંબા અંતર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Asynchronous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Start/Stop Bit સાથે Character-wise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Synchronous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Clock-based Block Transfer, Overhead ઓછો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436168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43251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Transmission Media — યાદ રાખો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782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Twisted Pair &lt; Coaxial &lt; Optical Fiber   (Bandwidth ક્રમમાં વધતું)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OSI Model (7 Layers) 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Open Systems Interconnection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Physical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0" y="1325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Please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Data Link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Network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0" y="2606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Not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18AB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2461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Transport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0" y="3246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Throw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862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3886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Session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669280" y="38862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Sausage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18AB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526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0" y="4526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Pizza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3315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1663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5166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69280" y="51663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Away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Error Detection Techniques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0352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Technique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સિદ્ધાંત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Detects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Parity Check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'1' ની સંખ્યા Even/Odd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Single-bit only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2D Parity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Row + Column Parity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Single + Correct કરી શકે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Checksum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Segments નો Sum + Complement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Burst+Random (TCP/IP)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CRC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Modulo-2 Division (Generator Polynomial)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Burst Errors — સૌથી Powerful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Hamming Code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Redundant Bits ચોક્કસ Position પર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Detect + Correct Single-bit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475488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CRC Remainder = 0 → No Error  |  Hamming Condition: 2^r ≥ m+r+1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Speech Digitization &amp; Coding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07008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Analog Speech → Digital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Steps: Analog Speech → Sampling → Quantization → Encoding → Digital Output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40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PCM Parameter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Value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Speech BW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300–3400 Hz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Sampling Rate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8000 Hz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Bits/Sample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8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Bit Rate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64 kbps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37360"/>
          <a:ext cx="5440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Technique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Bit Rate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વિશેષતા</a:t>
                      </a:r>
                      <a:endParaRPr lang="en-US" sz="113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DPCM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&lt;64kbps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Difference Encode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ADPCM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32 kbps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Adaptive Step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Delta Mod.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 bit/sample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Slope Overload+Granular Noise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Vocoder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~2.4 kbps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Parameter-based (GSM)</a:t>
                      </a:r>
                      <a:endParaRPr lang="en-US" sz="108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976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343400"/>
            <a:ext cx="10735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PCM = Sampling + Quantization + Encoding  |  Standard Telephone Bit Rate = 64 kbps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Switching — Space &amp; Time Division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Electronic Space Division Switching (ESS)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856232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દરેક Call ને અલગ Physical Path ફાળવાય — Control = SPC (Stored Program Control)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Crosspoints = n × m (Single Stage);  Multi-Stage → Crosspoints ઘટે, Cost ઘટે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40156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649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Time Division Switching (TDS)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82219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Common Path, Time Slot Share — Digital PCM Systems માટે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TSI (Time Slot Interchange): Speech Memory (Buffer) + Control Memory (Address)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SWRR (Sequential Write, Random Read)  |  RWSR (Random Write, Sequential Read)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303520"/>
            <a:ext cx="10735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T-S-T (Time-Space-Time) ⭐ — Modern Digital Exchange નું Architecture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SDS vs TDS — Comparison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Point</a:t>
                      </a:r>
                      <a:endParaRPr lang="en-US" sz="14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SDS</a:t>
                      </a:r>
                      <a:endParaRPr lang="en-US" sz="14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TDS</a:t>
                      </a:r>
                      <a:endParaRPr lang="en-US" sz="14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Path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Dedicated Physical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Shared, Time Slot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Crosspoints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વધુ (n×m)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ઓછા (Memory-based)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વપરાશ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Analog / Digital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ફક્ત Digital (PCM)</a:t>
                      </a:r>
                      <a:endParaRPr lang="en-US" sz="14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904488"/>
            <a:ext cx="329184" cy="329184"/>
          </a:xfrm>
          <a:prstGeom prst="ellipse">
            <a:avLst/>
          </a:prstGeom>
          <a:solidFill>
            <a:srgbClr val="E09000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867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યાદ રાખો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325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SDS = Dedicated Path (n×m Crosspoints)   |   TDS = Time Slot Share (TSI)   |   T-S-T = Modern Exchange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Traffic Engineering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3560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Traffic Intensity (Erlang)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 = C × T / Tperiod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 Erlang = 1 Circuit આખો સમય Busy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 Erlang = 36 CCS = 3600 sec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43560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13990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Busy Hour  &amp;  Grade of 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Busy Hour (BH): સૌથી વધુ Traffic વાળો 1-કલાક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GoS = Lost Calls / Offered Calls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Standard GoS = 0.002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System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પ્રકાર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ઉપયોગ</a:t>
                      </a:r>
                      <a:endParaRPr lang="en-US" sz="13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Erlang B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Lost Call System (Queue નહીં)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Standard Trunk Sizing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Erlang C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Queuing System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Call Centers</a:t>
                      </a:r>
                      <a:endParaRPr lang="en-US" sz="13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4864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532120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Offered Traffic = Carried Traffic + Lost Traffic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2926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Telephone Networks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389888"/>
            <a:ext cx="329184" cy="329184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Elements  &amp;  Topology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Elements: Subscriber Line, Exchange, Junction, Trunk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Topology: Mesh, Star, Hierarchical (Practical)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389888"/>
            <a:ext cx="329184" cy="32918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1353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Numbering  &amp;  Signaling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18105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India = Closed Numbering Plan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Signaling: CCS7 / SS7 — Modern Inter-Exchange Standard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India Hierarchy (Traditional 5-Level) ⭐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Local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Exchange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3506724"/>
            <a:ext cx="256032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79192" y="3154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18AB2"/>
          </a:solidFill>
          <a:ln/>
        </p:spPr>
      </p:sp>
      <p:sp>
        <p:nvSpPr>
          <p:cNvPr id="20" name="Text 18"/>
          <p:cNvSpPr/>
          <p:nvPr/>
        </p:nvSpPr>
        <p:spPr>
          <a:xfrm>
            <a:off x="2679192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TAX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Trunk Auto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Exchange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3506724"/>
            <a:ext cx="256032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9744" y="3154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4809744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PCC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Primary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84264" y="3506724"/>
            <a:ext cx="256032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0296" y="3154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6940296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SCC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Secondary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14816" y="3506724"/>
            <a:ext cx="256032" cy="164592"/>
          </a:xfrm>
          <a:prstGeom prst="rightArrow">
            <a:avLst/>
          </a:prstGeom>
          <a:solidFill>
            <a:srgbClr val="FFB703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0848" y="3154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E09000"/>
          </a:solidFill>
          <a:ln/>
        </p:spPr>
      </p:sp>
      <p:sp>
        <p:nvSpPr>
          <p:cNvPr id="29" name="Text 27"/>
          <p:cNvSpPr/>
          <p:nvPr/>
        </p:nvSpPr>
        <p:spPr>
          <a:xfrm>
            <a:off x="9070848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CCC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Central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Class Center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" y="4544568"/>
            <a:ext cx="329184" cy="329184"/>
          </a:xfrm>
          <a:prstGeom prst="ellipse">
            <a:avLst/>
          </a:prstGeom>
          <a:solidFill>
            <a:srgbClr val="5B6779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5079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Exchange પ્રકારો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" y="4965192"/>
            <a:ext cx="10607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Local Exchange (Direct Serve)  •  Tandem (2 LE વચ્ચે)  •  Trunk/TAX (Long Distance)  •  Transit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440680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Evolution: PSTN → ISDN → NGN (IP-based)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📐 Complete Formula Sheet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Last-Minute Revision — Part 1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5029200"/>
              </a:tblGrid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ક્રમ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સૂત્ર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Modulation Index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 = Am/Ac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Bandwidth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BW = 2fm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3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AM Total Power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Pt = Pc(1 + ma²/2)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4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 Frequency Deviation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Δf = kf × Am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5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 Modulation Index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β = Δf/fm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6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FM Bandwidth (Carson's Rule)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BW = 2(Δf+fm)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7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Image Frequency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f_image = fRF + 2fIF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8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Image Freq. Rejection Ratio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IFRR = √(1+Q²ρ²)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9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Critical Frequency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 = 9√Nmax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10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Maximum Usable Frequency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MUF = fc × secθ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11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LOS Distance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d(km) = 4.12(√ht+√hr)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12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SSB Bandwidth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BW = fm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13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Nyquist Sampling Rate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fs ≥ 2fm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📐 Complete Formula 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Last-Minute Revision — Part 2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5029200"/>
              </a:tblGrid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ક્રમ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સૂત્ર</a:t>
                      </a:r>
                      <a:endParaRPr lang="en-US" sz="125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14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Quantization Levels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 = 2ⁿ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15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SQNR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SQNR = 6.02n + 1.76 dB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16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PCM Bit Rate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Bit Rate = fs × 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17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Entropy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= Σ pi log₂(1/pi)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18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Coding Efficiency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η = (H/Lavg)×100%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19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Bit Rate vs Baud Rate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Bit Rate = Baud×log₂(L)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20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Attenuation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 = 10log₁₀(P1/P2)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21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Hamming Code Condition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2^r ≥ m+r+1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22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Traffic Intensity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= (C×T)/Tperiod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23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Grade of Service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GoS = Lost/Offered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24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1 Erlang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1E = 36 CCS = 3600 sec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25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Crosspoints (Single Stage)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Crosspoints = n × 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6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26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Gujarati" pitchFamily="34" charset="0"/>
                          <a:ea typeface="Noto Sans Gujarati" pitchFamily="34" charset="-122"/>
                          <a:cs typeface="Noto Sans Gujarati" pitchFamily="34" charset="-120"/>
                        </a:rPr>
                        <a:t>Offered Traffic</a:t>
                      </a:r>
                      <a:endParaRPr lang="en-US" sz="1200" dirty="0">
                        <a:latin typeface="Noto Sans Gujarati" charset="0"/>
                        <a:ea typeface="Noto Sans Gujarati" charset="0"/>
                        <a:cs typeface="Noto Sans Gujarat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Offered = Carried + Lost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🧠 Quick Revision &amp; Memory Tricks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35608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Communication System = Source+Transmitter+Channel+Receiver+Destination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57400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AM=Amplitude, FM=Frequency, PM=Phase બદલાય — BW ક્રમ: AM&lt;FM/PM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679192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Radio: 535–1605 kHz  |  FM Radio: 88–108 MHz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00984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4553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AM IF=455kHz, FM IF=10.7MHz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922776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767328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FM ની Noise Immunity વધુ — Limiter Circuit ના કારણે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544568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38912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Image Frequency = fRF+2fIF; IF ઊંચી→Rejection સારું પણ Selectivity ઘટે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48640" y="50109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166360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166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01091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Ground Wave→LF/MF, Sky Wave→HF(Ionosphere), Space Wave→VHF+(LOS)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548640" y="563270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788152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788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632704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SSB=Carrier+1 Side Band Suppress; Power Saving≈83%; Detection=Product Detector+BFO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62544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6409944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6409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62544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Manchester Encoding→Ethernet; AMI/HDB3→PCM Telephone Lines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🧠 Quick Revision &amp; Memory Tricks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08176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PAM(Amplitude)&lt;PWM(Width)&lt;PPM(Position) — Noise Immunity વધતા ક્રમમાં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75104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847088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PCM=Sampling+Quantization+Encoding; Standard Telephone=64kbps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42032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14016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Huffman Coding=સૌથી Optimal Lossless Compression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08960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980944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FDM=Frequency(Analog), TDM=Time(Digital), WDM=Optical Fiber, CDM=CDMA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354787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675888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OSI 7 Layers Trick: "Please Do Not Throw Sausage Pizza Away"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242816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114800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CRC=Burst Error માટે Best; Hamming Code=Detect+Correct Single-bit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48640" y="468172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809744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809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681728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SDS=Dedicated Path(n×m); TDS=Time Slot Share(TSI); T-S-T=Modern Exchange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548640" y="524865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376672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376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248656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 Erlang=1 Circuit પૂરો સમય Busy=36CCS; GoS Standard=0.002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581558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943600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5815584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India Telephone Hierarchy: LE→TAX→PCC→SCC→CCC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548640" y="638251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6510528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6510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6382512"/>
            <a:ext cx="10378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India=Closed Numbering Plan; Signaling=CCS7/SS7</a:t>
            </a:r>
            <a:endParaRPr lang="en-US" sz="118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📰 Chapter-Relevant Current Affairs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2025–26 | GPSC / GSSSB / PSI / Wireless PSI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6245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5G in India: Oct 2022 Launch, હવે 99.9% Districts Cover — 400+ Million Subscribers, 5.08 લાખ+ BTS Towers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5681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BSNL 4G/5G Rollout: ₹1.64 લાખ કરોડ Revival Package, Indigenous (TCS/C-DOT) 4G Stack, 5G 2025-26 માં અપેક્ષિત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55117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NFAP 2025 (30 Dec 2025 Effective): 6425–7125 MHz Band → 5G/5G-Advanced/6G; Ka/Q/V Bands → Satellite Broadband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4553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Bharat 6G Alliance: 2030 સુધીમાં 6G Technology માં Global Leadership નું લક્ષ્ય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73989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6118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Satellite Communication (Satcom): FWA &amp; Subsea Cable Landing Station Infrastructure પર ધ્યાન (દા.ત. Jio CLS, Digha)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33425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Telecommunications Act, 2023: જૂના Indian Telegraph Act, 1885 નું સ્થાન લેતો નવો કાયદો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928616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80060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Digital Infrastructure Investment: Google, Amazon, Meta ભારતમાં Data Center Sector માં મોટું Investment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4D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6035040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📌 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Exam Tip: Spectrum Policy Changes, BSNL/Jio/Airtel Updates અને Telecommunications Act, 2023 પર ખાસ ધ્યાન આપો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સંચાર ઈજનેરી  |  Wireless PSI Revision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9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2514600"/>
            <a:ext cx="1828800" cy="1828800"/>
          </a:xfrm>
          <a:prstGeom prst="ellipse">
            <a:avLst/>
          </a:prstGeom>
          <a:ln w="17780">
            <a:solidFill>
              <a:srgbClr val="118AB2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2103120"/>
            <a:ext cx="2651760" cy="2651760"/>
          </a:xfrm>
          <a:prstGeom prst="ellipse">
            <a:avLst/>
          </a:prstGeom>
          <a:ln w="17780">
            <a:solidFill>
              <a:srgbClr val="118AB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691640"/>
            <a:ext cx="3474720" cy="3474720"/>
          </a:xfrm>
          <a:prstGeom prst="ellipse">
            <a:avLst/>
          </a:prstGeom>
          <a:ln w="17780">
            <a:solidFill>
              <a:srgbClr val="118AB2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24612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24688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Gujarati" pitchFamily="34" charset="0"/>
                <a:ea typeface="Noto Serif Gujarati" pitchFamily="34" charset="-122"/>
                <a:cs typeface="Noto Serif Gujarati" pitchFamily="34" charset="-120"/>
              </a:rPr>
              <a:t>All the Best!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DF5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Wireless PSI Exam માટે શુભકામનાઓ 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0" y="3977640"/>
            <a:ext cx="2926080" cy="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41605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Noto Sans Gujarati" pitchFamily="34" charset="0"/>
                <a:ea typeface="Noto Sans Gujarati" pitchFamily="34" charset="-122"/>
                <a:cs typeface="Noto Sans Gujarati" pitchFamily="34" charset="-120"/>
              </a:rPr>
              <a:t>Formula Sheet + Memory Tricks ફરી એકવાર જુઓ — Exam ના છેલ્લા 30 મિનિટ માટે આ Deck ઉત્તમ છે.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2026-07-21T07:22:08Z</dcterms:created>
  <dcterms:modified xsi:type="dcterms:W3CDTF">2026-07-21T07:22:08Z</dcterms:modified>
</cp:coreProperties>
</file>